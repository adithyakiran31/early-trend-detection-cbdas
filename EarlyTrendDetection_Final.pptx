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C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April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7132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</a:rPr>
              <a:t>Early Trend Detection using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</a:rPr>
              <a:t>Cloud-Based Analytics &amp;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</a:rPr>
              <a:t>Power BI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342900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GANGASANI LAVANYA (TL) — 2320090004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PENDYALA ABHINAV — 2320030215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THIGULLA ADITHYA KIRAN GOUD — 2320030498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4297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Team Number — 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C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2834640" cy="374904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96112"/>
            <a:ext cx="2834640" cy="4572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9611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1444752"/>
            <a:ext cx="261518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Traditional dashboards are reactive — they show what already happened. Businesses need to detect what is rising right now, before it fully peaks.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72968" y="896112"/>
            <a:ext cx="2834640" cy="374904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72968" y="896112"/>
            <a:ext cx="2834640" cy="4572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89611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Need of the Project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82696" y="1444752"/>
            <a:ext cx="261518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Manual trend monitoring is slow and inefficient. An automated real-time pipeline removes human delay and delivers instant insights.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63056" y="896112"/>
            <a:ext cx="2834640" cy="374904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63056" y="896112"/>
            <a:ext cx="2834640" cy="4572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89611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Real-World Relevance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2784" y="1444752"/>
            <a:ext cx="261518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IPL match spikes, movie buzz, breaking news, election trends, stock topics — all can be detected early using this system.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C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1005840" cy="347472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686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Primary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1325880"/>
            <a:ext cx="4114800" cy="59436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533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Develop a cloud-based real-time analytics pipeline using Microsoft Azure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" y="2039112"/>
            <a:ext cx="4114800" cy="59436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06654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Detect emerging trends early using velocity-based time-series analysis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2880" y="2752344"/>
            <a:ext cx="4114800" cy="59436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77977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Classify trends as Viral, Breaking, Emerging, or Normal automatically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82880" y="3465576"/>
            <a:ext cx="4114800" cy="59436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4930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Visualize live insights through interactive Power BI dashboards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868680"/>
            <a:ext cx="1097280" cy="347472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8686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Secondary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325880"/>
            <a:ext cx="4206240" cy="59436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35331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Automated trend classification using SQL CASE logic in Stream Analytics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039112"/>
            <a:ext cx="4206240" cy="59436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06654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Velocity scoring: detects how fast a topic is rising within each 5-min window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752344"/>
            <a:ext cx="4206240" cy="59436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77977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Scalable Azure architecture adaptable to any domain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3465576"/>
            <a:ext cx="4206240" cy="59436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4930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Cost-optimised for Azure for Students (Basic tier, 1 Streaming Unit)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C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1554480" cy="1371600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48132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Google Trends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RSS Feed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8600" y="2148840"/>
            <a:ext cx="155448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2194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India live feed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ht:approx_traffic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19656" y="2057400"/>
            <a:ext cx="246888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38528" y="19202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1371600"/>
            <a:ext cx="1554480" cy="1371600"/>
          </a:xfrm>
          <a:prstGeom prst="rect">
            <a:avLst/>
          </a:prstGeom>
          <a:solidFill>
            <a:srgbClr val="1A4D8F"/>
          </a:solidFill>
          <a:ln w="12700">
            <a:solidFill>
              <a:srgbClr val="1A4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48132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Python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Ingestion Script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103120" y="2148840"/>
            <a:ext cx="155448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2194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Parses real 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volume, sends events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94176" y="2057400"/>
            <a:ext cx="246888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13048" y="19202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77640" y="1371600"/>
            <a:ext cx="1554480" cy="13716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148132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Azure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Event Hub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977640" y="2148840"/>
            <a:ext cx="155448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2194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Basic tier, 1 TU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Real-time queue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68696" y="2057400"/>
            <a:ext cx="246888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19202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52160" y="1371600"/>
            <a:ext cx="1554480" cy="1371600"/>
          </a:xfrm>
          <a:prstGeom prst="rect">
            <a:avLst/>
          </a:prstGeom>
          <a:solidFill>
            <a:srgbClr val="6B3A00"/>
          </a:solidFill>
          <a:ln w="12700">
            <a:solidFill>
              <a:srgbClr val="6B3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148132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Azure Stream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Analytics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852160" y="2148840"/>
            <a:ext cx="155448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2194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SQL query, 5-min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tumbling window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43216" y="2057400"/>
            <a:ext cx="246888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62088" y="19202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26680" y="1371600"/>
            <a:ext cx="1554480" cy="1371600"/>
          </a:xfrm>
          <a:prstGeom prst="rect">
            <a:avLst/>
          </a:prstGeom>
          <a:solidFill>
            <a:srgbClr val="2C2C8B"/>
          </a:solidFill>
          <a:ln w="12700">
            <a:solidFill>
              <a:srgbClr val="2C2C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26680" y="148132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Power BI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Dashboard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726680" y="2148840"/>
            <a:ext cx="155448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26680" y="2194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Live KPIs, charts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&amp; trend table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2960" y="914400"/>
            <a:ext cx="365760" cy="365760"/>
          </a:xfrm>
          <a:prstGeom prst="ellipse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914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697480" y="914400"/>
            <a:ext cx="365760" cy="365760"/>
          </a:xfrm>
          <a:prstGeom prst="ellipse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97480" y="914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0" y="914400"/>
            <a:ext cx="365760" cy="365760"/>
          </a:xfrm>
          <a:prstGeom prst="ellipse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914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46520" y="914400"/>
            <a:ext cx="365760" cy="365760"/>
          </a:xfrm>
          <a:prstGeom prst="ellipse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914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321040" y="914400"/>
            <a:ext cx="365760" cy="365760"/>
          </a:xfrm>
          <a:prstGeom prst="ellipse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21040" y="914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74320" y="30175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1C1C"/>
                </a:solidFill>
              </a:rPr>
              <a:t>Every component runs on Microsoft Azure — scalable, cloud-native, and cost-optimised for student accounts.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C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TECHNOLOGIES USED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4297680" cy="96012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5097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C1C"/>
                </a:solidFill>
              </a:rPr>
              <a:t>Google Trends RSS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" y="12344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[Data Source]  Live India feed — provides ht:approx_traffic (real search volume). Fetched every 30 seconds.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297680" cy="96012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95097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C1C"/>
                </a:solidFill>
              </a:rPr>
              <a:t>Python 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18888" y="12344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[Ingestion Layer]  feedparser + azure-eventhub SDK. Parses RSS, extracts real search volume (1K+, 500+ → integers), streams JSON events.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2880" y="2011680"/>
            <a:ext cx="4297680" cy="96012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04825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C1C"/>
                </a:solidFill>
              </a:rPr>
              <a:t>Azure Event Hub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" y="23317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[Streaming Ingestion]  Basic tier, 1 Throughput Unit. Acts as high-speed event queue receiving all trend events in real time.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2011680"/>
            <a:ext cx="4297680" cy="96012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204825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C1C"/>
                </a:solidFill>
              </a:rPr>
              <a:t>Azure Stream Analytics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18888" y="23317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[Real-time Processing]  SQL query with TumblingWindow(minute,5). Computes trend_score, velocity (MAX–MIN), avg/peak search volume, and trend_status.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68880" y="3108960"/>
            <a:ext cx="4206240" cy="141732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312724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1C1C"/>
                </a:solidFill>
              </a:rPr>
              <a:t>Power BI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06040" y="345643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[Visualization]  Live streaming dataset. Displays KPI cards, bar chart, line chart, and full data table with velocity and status fields.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C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HOW IT WORKS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4114800" cy="9144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 Script — Key Fix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1188720"/>
            <a:ext cx="4114800" cy="23317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3931920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search_vol = entry.get("ht_approx_traffic","0")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search_vol = search_vol.replace("K+","000")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.replace("+","")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"keyword": keyword,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"search_volume": int(search_vol),  # Real!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datetime.utcnow()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297680" cy="91440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8686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Stream Analytics SQL — Velocity Logic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297680" cy="23317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34440"/>
            <a:ext cx="4114800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keyword,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trend_score,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AVG(search_volume) AS avg_search_volume,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MAX(search_volume) AS peak_search_volume,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MAX(sv) - MIN(sv) AS velocity,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MAX(sv)-MIN(sv) &gt;= 5000 THEN 'Viral'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MAX(sv)-MIN(sv) &gt;= 1000 THEN 'Breaking'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AVG(sv) &gt;= 200 THEN 'Emerging'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'Normal'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AS trend_status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keyword,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TumblingWindow(minute, 5)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" y="370332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7B1C1C"/>
                </a:solidFill>
              </a:rPr>
              <a:t>Velocity = MAX(search_volume) − MIN(search_volume) within a 5-minute window. A high velocity with low average = early stage spike = early detection signal.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C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</a:rPr>
              <a:t>TREND CLASSIFICATION LOGIC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1645920" cy="74980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14400"/>
            <a:ext cx="1645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VIRAL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20240" y="914400"/>
            <a:ext cx="2377440" cy="749808"/>
          </a:xfrm>
          <a:prstGeom prst="rect">
            <a:avLst/>
          </a:prstGeom>
          <a:solidFill>
            <a:srgbClr val="FFFBEA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96012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</a:rPr>
              <a:t>Velocity ≥ 5,000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914400"/>
            <a:ext cx="4572000" cy="749808"/>
          </a:xfrm>
          <a:prstGeom prst="rect">
            <a:avLst/>
          </a:prstGeom>
          <a:solidFill>
            <a:srgbClr val="FFFBEA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950976"/>
            <a:ext cx="4389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Massive spike in short window. Breaking match moment, viral news, movie announcement.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847088"/>
            <a:ext cx="1645920" cy="749808"/>
          </a:xfrm>
          <a:prstGeom prst="rect">
            <a:avLst/>
          </a:prstGeom>
          <a:solidFill>
            <a:srgbClr val="B35900"/>
          </a:solidFill>
          <a:ln w="12700">
            <a:solidFill>
              <a:srgbClr val="B35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1847088"/>
            <a:ext cx="1645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BREAKING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920240" y="1847088"/>
            <a:ext cx="2377440" cy="749808"/>
          </a:xfrm>
          <a:prstGeom prst="rect">
            <a:avLst/>
          </a:prstGeom>
          <a:solidFill>
            <a:srgbClr val="FFFBEA"/>
          </a:solidFill>
          <a:ln w="12700">
            <a:solidFill>
              <a:srgbClr val="B35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189280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5900"/>
                </a:solidFill>
              </a:rPr>
              <a:t>Velocity ≥ 1,000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1847088"/>
            <a:ext cx="4572000" cy="749808"/>
          </a:xfrm>
          <a:prstGeom prst="rect">
            <a:avLst/>
          </a:prstGeom>
          <a:solidFill>
            <a:srgbClr val="FFFBEA"/>
          </a:solidFill>
          <a:ln w="12700">
            <a:solidFill>
              <a:srgbClr val="B35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883664"/>
            <a:ext cx="4389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Rapidly rising topic. Trending fast but not yet peaked. Early detection opportunity.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2779776"/>
            <a:ext cx="1645920" cy="749808"/>
          </a:xfrm>
          <a:prstGeom prst="rect">
            <a:avLst/>
          </a:prstGeom>
          <a:solidFill>
            <a:srgbClr val="1A5E1A"/>
          </a:solidFill>
          <a:ln w="12700">
            <a:solidFill>
              <a:srgbClr val="1A5E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779776"/>
            <a:ext cx="1645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EMERGING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920240" y="2779776"/>
            <a:ext cx="2377440" cy="749808"/>
          </a:xfrm>
          <a:prstGeom prst="rect">
            <a:avLst/>
          </a:prstGeom>
          <a:solidFill>
            <a:srgbClr val="FFFBEA"/>
          </a:solidFill>
          <a:ln w="12700">
            <a:solidFill>
              <a:srgbClr val="1A5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282549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E1A"/>
                </a:solidFill>
              </a:rPr>
              <a:t>Avg Volume ≥ 200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2779776"/>
            <a:ext cx="4572000" cy="749808"/>
          </a:xfrm>
          <a:prstGeom prst="rect">
            <a:avLst/>
          </a:prstGeom>
          <a:solidFill>
            <a:srgbClr val="FFFBEA"/>
          </a:solidFill>
          <a:ln w="12700">
            <a:solidFill>
              <a:srgbClr val="1A5E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816352"/>
            <a:ext cx="4389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Steady growing interest. Topic is building momentum. Monitor closely.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3712464"/>
            <a:ext cx="1645920" cy="74980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3712464"/>
            <a:ext cx="1645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NORMAL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920240" y="3712464"/>
            <a:ext cx="2377440" cy="749808"/>
          </a:xfrm>
          <a:prstGeom prst="rect">
            <a:avLst/>
          </a:prstGeom>
          <a:solidFill>
            <a:srgbClr val="FFFBE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37581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</a:rPr>
              <a:t>Below all thresholds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89120" y="3712464"/>
            <a:ext cx="4572000" cy="749808"/>
          </a:xfrm>
          <a:prstGeom prst="rect">
            <a:avLst/>
          </a:prstGeom>
          <a:solidFill>
            <a:srgbClr val="FFFBE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3749040"/>
            <a:ext cx="4389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Low engagement. Background noise. Not yet a trend.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2880" y="4663440"/>
            <a:ext cx="8778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1C1C"/>
                </a:solidFill>
              </a:rPr>
              <a:t>Key Insight: Velocity-based classification detects trends earlier than volume-based systems — a topic can be 'Breaking' with low average volume if it spiked suddenly.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C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POWER BI DASHBOARD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011680" cy="105156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1C1C"/>
                </a:solidFill>
              </a:rPr>
              <a:t>20K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1444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Peak Search Volume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2880" y="17190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</a:rPr>
              <a:t>IPL Table Point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95728" y="914400"/>
            <a:ext cx="2011680" cy="105156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95728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1C1C"/>
                </a:solidFill>
              </a:rPr>
              <a:t>2.91K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395728" y="1444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Avg Search Volume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95728" y="17190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</a:rPr>
              <a:t>Across all topics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08576" y="914400"/>
            <a:ext cx="2011680" cy="105156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1C1C"/>
                </a:solidFill>
              </a:rPr>
              <a:t>10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08576" y="1444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Keywords Tracked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08576" y="17190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</a:rPr>
              <a:t>Live topics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21424" y="914400"/>
            <a:ext cx="2011680" cy="105156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21424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1C1C"/>
                </a:solidFill>
              </a:rPr>
              <a:t>8,000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21424" y="1444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Trend Velocity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21424" y="17190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</a:rPr>
              <a:t>Max spike speed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" y="2148840"/>
            <a:ext cx="2834640" cy="347472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21488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Bar Chart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82880" y="2496312"/>
            <a:ext cx="2834640" cy="141732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542032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Avg search volume per keyword, colored by trend_status (Viral/Breaking/Emerging/Normal)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72968" y="2148840"/>
            <a:ext cx="2834640" cy="347472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72968" y="21488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Line Chart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172968" y="2496312"/>
            <a:ext cx="2834640" cy="141732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2542032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Avg search volume over time by keyword — shows trend evolution across 5-min windows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63056" y="2148840"/>
            <a:ext cx="2834640" cy="347472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21488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Table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63056" y="2496312"/>
            <a:ext cx="2834640" cy="1417320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2542032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Full live feed: keyword, trend_score, avg/peak search volume, velocity, trend_status, window_end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82880" y="4096512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1C1C"/>
                </a:solidFill>
              </a:rPr>
              <a:t>All 6 fields now stream live into Power BI: keyword · trend_score · avg_search_volume · peak_search_volume · velocity · trend_status · window_end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C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RESULTS &amp; OUTPUT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" y="82296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C1C"/>
                </a:solidFill>
              </a:rPr>
              <a:t>Live Data Sample (from actual run — India region)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70432"/>
          <a:ext cx="8778240" cy="256032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097280"/>
                <a:gridCol w="1188720"/>
                <a:gridCol w="100584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Volume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Volume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C1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ipl table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usmnt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hemang badani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5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chelsea vs arsenal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5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candidates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5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petrol diesel 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82880" y="384048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7B1C1C"/>
                </a:solidFill>
              </a:rPr>
              <a:t>Key takeaway: IPL Table Point detected with velocity 8,000 and peak 20K — this is early trend detection in action. The pipeline classifies it as Viral within the first 5-minute window.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C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FUTURE SCOPE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4297680" cy="1024128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914400"/>
            <a:ext cx="73152" cy="1024128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9601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1C1C"/>
                </a:solidFill>
              </a:rPr>
              <a:t>Multi-Source Integration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9184" y="126187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Add X (Twitter) API and Reddit API as additional data sources alongside Google Trends for richer trend signals.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297680" cy="1024128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914400"/>
            <a:ext cx="73152" cy="1024128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5464" y="9601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1C1C"/>
                </a:solidFill>
              </a:rPr>
              <a:t>Sentiment Analysis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55464" y="126187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Use Azure Cognitive Services to add sentiment scoring — detect if a viral trend is positive, negative, or neutral.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103120"/>
            <a:ext cx="4297680" cy="1024128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2103120"/>
            <a:ext cx="73152" cy="1024128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21488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1C1C"/>
                </a:solidFill>
              </a:rPr>
              <a:t>ML-Based Forecasting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9184" y="245059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Integrate time-series forecasting (ARIMA / Azure AutoML) to predict which Emerging topics will become Viral next.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103120"/>
            <a:ext cx="4297680" cy="1024128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103120"/>
            <a:ext cx="73152" cy="1024128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5464" y="21488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1C1C"/>
                </a:solidFill>
              </a:rPr>
              <a:t>Automated Alerts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55464" y="245059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Send Microsoft Teams or email notifications automatically when a topic crosses the Viral threshold in real time.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2880" y="3291840"/>
            <a:ext cx="4297680" cy="1024128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291840"/>
            <a:ext cx="73152" cy="1024128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33375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1C1C"/>
                </a:solidFill>
              </a:rPr>
              <a:t>Geo-Specific Dashboards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9184" y="363931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Expand beyond India (geo=IN) to support multiple regions — US, UK, Global — with region-filtered Power BI pages.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291840"/>
            <a:ext cx="4297680" cy="1024128"/>
          </a:xfrm>
          <a:prstGeom prst="rect">
            <a:avLst/>
          </a:prstGeom>
          <a:solidFill>
            <a:srgbClr val="FFFBEA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291840"/>
            <a:ext cx="73152" cy="1024128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5464" y="33375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1C1C"/>
                </a:solidFill>
              </a:rPr>
              <a:t>Anomaly Detection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55464" y="363931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Use Azure Stream Analytics anomaly detection functions (AnomalyDetection_SpikeAndDip) to flag unusual spikes automatically.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C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7B1C1C"/>
                </a:solidFill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GANGASANI LAVANYA (TL) — 2320090004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PENDYALA ABHINAV — 2320030215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THIGULLA ADITHYA KIRAN GOUD — 2320030498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160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</a:rPr>
              <a:t>Team Number — 4  |  KLH University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Trend Detection using Cloud-Based Analytics &amp; Power BI</dc:title>
  <dc:subject>PptxGenJS Presentation</dc:subject>
  <dc:creator>PptxGenJS</dc:creator>
  <cp:lastModifiedBy>PptxGenJS</cp:lastModifiedBy>
  <cp:revision>1</cp:revision>
  <dcterms:created xsi:type="dcterms:W3CDTF">2026-04-01T19:06:09Z</dcterms:created>
  <dcterms:modified xsi:type="dcterms:W3CDTF">2026-04-01T19:06:09Z</dcterms:modified>
</cp:coreProperties>
</file>